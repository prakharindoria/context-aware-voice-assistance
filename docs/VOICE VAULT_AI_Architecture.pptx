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6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3959352" cy="3200400"/>
          </a:xfrm>
          <a:prstGeom prst="rect">
            <a:avLst/>
          </a:prstGeom>
          <a:solidFill>
            <a:srgbClr val="051A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0" y="274320"/>
            <a:ext cx="3044952" cy="2286000"/>
          </a:xfrm>
          <a:prstGeom prst="rect">
            <a:avLst/>
          </a:prstGeom>
          <a:solidFill>
            <a:srgbClr val="0722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alibri Light"/>
              </a:rPr>
              <a:t>SOLUTION ARCHITECT PRESENTATION  · 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8686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F0F6FF"/>
                </a:solidFill>
              </a:rPr>
              <a:t>VOICE VAULT</a:t>
            </a:r>
            <a:r>
              <a:rPr sz="4400" b="1" i="0" dirty="0">
                <a:solidFill>
                  <a:srgbClr val="F0F6FF"/>
                </a:solidFill>
                <a:latin typeface="Calibri"/>
              </a:rPr>
              <a:t>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D4FF"/>
                </a:solidFill>
                <a:latin typeface="Calibri Light"/>
              </a:rPr>
              <a:t>Context-Aware Voice Privacy Assistant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520440"/>
            <a:ext cx="109728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EA8CC"/>
                </a:solidFill>
                <a:latin typeface="Calibri Light"/>
              </a:rPr>
              <a:t>An AI-powered platform that transcribes voice input, detects PII privacy risks
in real-time, and delivers spoken assessments — built on Clean Architecture.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937760"/>
            <a:ext cx="4114800" cy="82296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A8CC"/>
                </a:solidFill>
                <a:latin typeface="Calibri"/>
              </a:rPr>
              <a:t>Solution Architect  |  Architecture Review  ·  2025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0" y="2331720"/>
            <a:ext cx="2194560" cy="2194560"/>
          </a:xfrm>
          <a:prstGeom prst="ellipse">
            <a:avLst/>
          </a:prstGeom>
          <a:solidFill>
            <a:srgbClr val="1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784080" y="2697480"/>
            <a:ext cx="1463040" cy="1463040"/>
          </a:xfrm>
          <a:prstGeom prst="ellipse">
            <a:avLst/>
          </a:prstGeom>
          <a:solidFill>
            <a:srgbClr val="123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149840" y="3063240"/>
            <a:ext cx="731520" cy="731520"/>
          </a:xfrm>
          <a:prstGeom prst="ellipse">
            <a:avLst/>
          </a:prstGeom>
          <a:solidFill>
            <a:srgbClr val="15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6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8BFF"/>
                </a:solidFill>
                <a:latin typeface="Calibri Ligh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F6FF"/>
                </a:solidFill>
                <a:latin typeface="Calibri"/>
              </a:rPr>
              <a:t>What We'll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73152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94960" cy="10058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D8B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63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6FF"/>
                </a:solidFill>
                <a:latin typeface="Calibri"/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74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Why voice privacy is broken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60320"/>
            <a:ext cx="5394960" cy="10058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269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D8B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51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6FF"/>
                </a:solidFill>
                <a:latin typeface="Calibri"/>
              </a:rPr>
              <a:t>Solution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63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WhisperShield AI value proposition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49040"/>
            <a:ext cx="5394960" cy="10058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D8B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840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6FF"/>
                </a:solidFill>
                <a:latin typeface="Calibri"/>
              </a:rPr>
              <a:t>System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251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Clean Architecture layers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937760"/>
            <a:ext cx="5394960" cy="10058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5074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D8B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029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6FF"/>
                </a:solidFill>
                <a:latin typeface="Calibri"/>
              </a:rPr>
              <a:t>Core Components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440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Key building blocks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371600"/>
            <a:ext cx="5394960" cy="10058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73952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D8BFF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1463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6FF"/>
                </a:solidFill>
                <a:latin typeface="Calibri"/>
              </a:rPr>
              <a:t>Technology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1874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Frameworks, SDKs, and infra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560320"/>
            <a:ext cx="5394960" cy="10058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73952" y="269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D8BFF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651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6FF"/>
                </a:solidFill>
                <a:latin typeface="Calibri"/>
              </a:rPr>
              <a:t>Privacy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063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PII detection and risk scoring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749040"/>
            <a:ext cx="5394960" cy="10058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73952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D8BFF"/>
                </a:solidFill>
                <a:latin typeface="Calibri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840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6FF"/>
                </a:solidFill>
                <a:latin typeface="Calibri"/>
              </a:rPr>
              <a:t>Data 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251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End-to-end processing pipeline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4937760"/>
            <a:ext cx="5394960" cy="10058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73952" y="5074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D8BFF"/>
                </a:solidFill>
                <a:latin typeface="Calibri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029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6FF"/>
                </a:solidFill>
                <a:latin typeface="Calibri"/>
              </a:rPr>
              <a:t>Roadmap &amp; Next Steps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5440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Phases and action items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4D4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8BFF"/>
                </a:solidFill>
                <a:latin typeface="Calibri Light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F6FF"/>
                </a:solidFill>
                <a:latin typeface="Calibri"/>
              </a:rPr>
              <a:t>Voice Notes Carry Hidden Privacy 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3716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EA8CC"/>
                </a:solidFill>
                <a:latin typeface="Calibri"/>
              </a:rPr>
              <a:t>Every time someone records a voice note — dictating a message, leaving a memo, or dictating sensitive information — they may unknowingly include PII that gets uploaded, stored, and exposed without any privacy check.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5394960" cy="1600200"/>
          </a:xfrm>
          <a:prstGeom prst="roundRect">
            <a:avLst/>
          </a:prstGeom>
          <a:solidFill>
            <a:srgbClr val="1A0808"/>
          </a:solidFill>
          <a:ln w="12700">
            <a:solidFill>
              <a:srgbClr val="8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6FF"/>
                </a:solidFill>
                <a:latin typeface="Calibri"/>
              </a:rPr>
              <a:t>🔒  No PII Guardrails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EA8CC"/>
                </a:solidFill>
                <a:latin typeface="Calibri"/>
              </a:rPr>
              <a:t>Traditional voice tools have zero awareness of sensitive content. Passwords, SSNs, health data, and credit card numbers are transcribed and stored with no warning.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103120"/>
            <a:ext cx="5394960" cy="1600200"/>
          </a:xfrm>
          <a:prstGeom prst="roundRect">
            <a:avLst/>
          </a:prstGeom>
          <a:solidFill>
            <a:srgbClr val="1A0808"/>
          </a:solidFill>
          <a:ln w="12700">
            <a:solidFill>
              <a:srgbClr val="8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2240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6FF"/>
                </a:solidFill>
                <a:latin typeface="Calibri"/>
              </a:rPr>
              <a:t>⚠️  Invisible Risk Exposure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EA8CC"/>
                </a:solidFill>
                <a:latin typeface="Calibri"/>
              </a:rPr>
              <a:t>Users cannot see what sensitive entities their voice note contains before it leaves the device. Risk is invisible until a breach occurs.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5394960" cy="1600200"/>
          </a:xfrm>
          <a:prstGeom prst="roundRect">
            <a:avLst/>
          </a:prstGeom>
          <a:solidFill>
            <a:srgbClr val="1A0808"/>
          </a:solidFill>
          <a:ln w="12700">
            <a:solidFill>
              <a:srgbClr val="8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069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6FF"/>
                </a:solidFill>
                <a:latin typeface="Calibri"/>
              </a:rPr>
              <a:t>🔁  Zero Context Awareness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EA8CC"/>
                </a:solidFill>
                <a:latin typeface="Calibri"/>
              </a:rPr>
              <a:t>Voice assistants treat each recording in isolation — no intent understanding, no privacy-aware routing, no adaptive response.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931920"/>
            <a:ext cx="5394960" cy="1600200"/>
          </a:xfrm>
          <a:prstGeom prst="roundRect">
            <a:avLst/>
          </a:prstGeom>
          <a:solidFill>
            <a:srgbClr val="1A0808"/>
          </a:solidFill>
          <a:ln w="12700">
            <a:solidFill>
              <a:srgbClr val="8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4069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6FF"/>
                </a:solidFill>
                <a:latin typeface="Calibri"/>
              </a:rPr>
              <a:t>📉  Compliance Gaps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4805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EA8CC"/>
                </a:solidFill>
                <a:latin typeface="Calibri"/>
              </a:rPr>
              <a:t>Organisations processing voice data lack automated PII detection, making GDPR compliance and data minimisation principles hard to enforce.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897880"/>
            <a:ext cx="11155680" cy="685800"/>
          </a:xfrm>
          <a:prstGeom prst="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5943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67%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961888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EA8CC"/>
                </a:solidFill>
                <a:latin typeface="Calibri"/>
              </a:rPr>
              <a:t>users frustrated by repeating PII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5943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$4.5M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961888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EA8CC"/>
                </a:solidFill>
                <a:latin typeface="Calibri"/>
              </a:rPr>
              <a:t>average cost of a data breach (IBM, 2023)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943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3×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5961888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EA8CC"/>
                </a:solidFill>
                <a:latin typeface="Calibri"/>
              </a:rPr>
              <a:t>more likely to abandon voice apps after privacy issues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5943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40%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5961888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EA8CC"/>
                </a:solidFill>
                <a:latin typeface="Calibri"/>
              </a:rPr>
              <a:t>of voice recordings contain sensitive personal info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E5A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8BFF"/>
                </a:solidFill>
                <a:latin typeface="Calibri Light"/>
              </a:rP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F0F6FF"/>
                </a:solidFill>
              </a:rPr>
              <a:t>VOICE VAULT</a:t>
            </a:r>
            <a:r>
              <a:rPr sz="2600" b="1" i="0" dirty="0">
                <a:solidFill>
                  <a:srgbClr val="F0F6FF"/>
                </a:solidFill>
                <a:latin typeface="Calibri"/>
              </a:rPr>
              <a:t> AI — Privacy-First Voice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3716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EA8CC"/>
                </a:solidFill>
                <a:latin typeface="Calibri"/>
              </a:rPr>
              <a:t>An intelligent voice privacy assistant that transcribes spoken input via Azure Whisper, evaluates the transcript for PII risks using a domain-driven privacy engine, and returns a spoken risk assessment — all within a Clean Architecture.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48840"/>
            <a:ext cx="2148840" cy="42062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F6FF"/>
                </a:solidFill>
                <a:latin typeface="Calibri"/>
              </a:rPr>
              <a:t>🎙️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Voice-Native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273552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342900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Records audio directly in the browser via Streamlit's audio component. No external audio pipeline required.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2148840"/>
            <a:ext cx="2148840" cy="42062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2608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F6FF"/>
                </a:solidFill>
                <a:latin typeface="Calibri"/>
              </a:rPr>
              <a:t>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8346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Azure Whisper STT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3273552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0" y="342900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High-accuracy multilingual transcription via Azure OpenAI Whisper — streaming-capable with async Python.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2148840"/>
            <a:ext cx="2148840" cy="42062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5780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F6FF"/>
                </a:solidFill>
                <a:latin typeface="Calibri"/>
              </a:rPr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8346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Privacy Engine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57800" y="3273552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57800" y="342900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Keyword-weighted PII detector evaluates transcript for passwords, SSNs, health data, emails, and more with scored risk levels.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2148840"/>
            <a:ext cx="2148840" cy="42062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F6FF"/>
                </a:solidFill>
                <a:latin typeface="Calibri"/>
              </a:rPr>
              <a:t>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8346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Voice Response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3273552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89520" y="342900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gTTS converts the privacy assessment back into natural speech — results are both displayed and spoken.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84080" y="2148840"/>
            <a:ext cx="2148840" cy="42062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2124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F6FF"/>
                </a:solidFill>
                <a:latin typeface="Calibri"/>
              </a:rPr>
              <a:t>🏛️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28346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Clean Architecture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21240" y="3273552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921240" y="342900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Domain, Application, Infrastructure, and Presentation layers are fully decoupled. Easily swap STT provider or TTS engine.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6446520"/>
            <a:ext cx="11155680" cy="292608"/>
          </a:xfrm>
          <a:prstGeom prst="roundRect">
            <a:avLst/>
          </a:prstGeom>
          <a:solidFill>
            <a:srgbClr val="001E10"/>
          </a:solidFill>
          <a:ln w="1270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6464808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E5A0"/>
                </a:solidFill>
                <a:latin typeface="Calibri"/>
              </a:rPr>
              <a:t>✓  Privacy risk detected before data leaves the device  ·  ✓  Zero-repetition conversational design  ·  ✓  GDPR-aligned by construction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B5EA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8BFF"/>
                </a:solidFill>
                <a:latin typeface="Calibri Light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F6FF"/>
                </a:solidFill>
                <a:latin typeface="Calibri"/>
              </a:rPr>
              <a:t>Clean Architecture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73152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1155680" cy="1143000"/>
          </a:xfrm>
          <a:prstGeom prst="roundRect">
            <a:avLst/>
          </a:prstGeom>
          <a:solidFill>
            <a:srgbClr val="05306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FF"/>
                </a:solidFill>
                <a:latin typeface="Calibri"/>
              </a:rPr>
              <a:t>PRESENTATION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0136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6FF"/>
                </a:solidFill>
                <a:latin typeface="Calibri"/>
              </a:rPr>
              <a:t>Streamlit Frontend (app.py)  +  FastAPI Backend (api.py)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3055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User interacts via browser. FastAPI exposes POST /analyze-privacy endpoint. Streamlit renders results and plays TTS audio.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51760"/>
            <a:ext cx="11155680" cy="1143000"/>
          </a:xfrm>
          <a:prstGeom prst="roundRect">
            <a:avLst/>
          </a:prstGeom>
          <a:solidFill>
            <a:srgbClr val="052045"/>
          </a:solidFill>
          <a:ln w="12700">
            <a:solidFill>
              <a:srgbClr val="3D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D8BFF"/>
                </a:solidFill>
                <a:latin typeface="Calibri"/>
              </a:rPr>
              <a:t>APPLICATION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3580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6FF"/>
                </a:solidFill>
                <a:latin typeface="Calibri"/>
              </a:rPr>
              <a:t>PrivacyService (privacy_service.py)  +  ITranscriptionService (interfaces.py)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6499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Orchestrates: transcribe audio → evaluate privacy. Depends only on abstractions — no infrastructure knowledge.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86200"/>
            <a:ext cx="11155680" cy="1143000"/>
          </a:xfrm>
          <a:prstGeom prst="roundRect">
            <a:avLst/>
          </a:prstGeom>
          <a:solidFill>
            <a:srgbClr val="071532"/>
          </a:solidFill>
          <a:ln w="12700"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977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5EA7"/>
                </a:solidFill>
                <a:latin typeface="Calibri"/>
              </a:rPr>
              <a:t>DOMAIN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7024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6FF"/>
                </a:solidFill>
                <a:latin typeface="Calibri"/>
              </a:rPr>
              <a:t>PrivacyEvaluator  +  PrivacyAssessment  +  PrivacyEntity  +  RiskLevel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9943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Pure Python domain logic. Keyword-weighted PII scoring. No external dependencies. Fully testable in isolation.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20640"/>
            <a:ext cx="11155680" cy="1143000"/>
          </a:xfrm>
          <a:prstGeom prst="roundRect">
            <a:avLst/>
          </a:prstGeom>
          <a:solidFill>
            <a:srgbClr val="041228"/>
          </a:solidFill>
          <a:ln w="12700">
            <a:solidFill>
              <a:srgbClr val="00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5212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C8"/>
                </a:solidFill>
                <a:latin typeface="Calibri"/>
              </a:rPr>
              <a:t>INFRASTRUCTURE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5046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6FF"/>
                </a:solidFill>
                <a:latin typeface="Calibri"/>
              </a:rPr>
              <a:t>AzureWhisperService (azure_whisper_stt.py)  +  SecurityMiddleware (security.py)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83387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Implements ITranscriptionService using Azure OpenAI SDK. API token validation via FastAPI Header dependency.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EA8CC"/>
                </a:solidFill>
                <a:latin typeface="Calibri"/>
              </a:rPr>
              <a:t>⬆  Dependency direction: outer layers depend on inner; inner layers know nothing of outer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6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8BFF"/>
                </a:solidFill>
                <a:latin typeface="Calibri Light"/>
              </a:rPr>
              <a:t>CORE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F6FF"/>
                </a:solidFill>
                <a:latin typeface="Calibri"/>
              </a:rPr>
              <a:t>Key Building Blocks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73152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417320"/>
            <a:ext cx="3749039" cy="22860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52704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🎙️  Voice Capture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984248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214884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Streamlit st.audio_input() captures raw audio from the browser microphone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Returns WAV bytes — zero external audio pipeline required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Works in-browser: no native app needed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17320"/>
            <a:ext cx="3749039" cy="22860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62272" y="152704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📝  STT — Azure Whisper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62272" y="1984248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62272" y="214884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AzureWhisperService implements ITranscriptionService interface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Uses AsyncAzureOpenAI client (async/await)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Falls back to mock transcript when credentials absent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Config via env vars: AZURE_OPENAI_API_KEY, ENDPOINT, DEPLOYMENT_ID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17320"/>
            <a:ext cx="3749039" cy="22860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4192" y="152704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🔍  Privacy Engine (Domain)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94192" y="1984248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94192" y="214884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PrivacyEvaluator.evaluate(text) — pure static method, no I/O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Scans for 8 PII keyword categories (password, SSN, credit card, health…)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Weighted risk scores normalised to 0.0–1.0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Returns PrivacyAssessment with entities, risk level, recommendation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886200"/>
            <a:ext cx="3749039" cy="22860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39959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⚠️  Risk Classification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4453128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" y="461772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CRITICAL (≥0.8): DO NOT UPLOAD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HIGH (≥0.5): Redaction recommended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MEDIUM (≥0.2): Minor risks detected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LOW (&lt;0.2): Safe to process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886200"/>
            <a:ext cx="3749039" cy="22860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62272" y="39959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🔊  TTS Response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62272" y="4453128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62272" y="461772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gTTS converts full assessment summary to MP3 audio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Plays back automatically in the Streamlit UI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Summary includes: transcript + entities + risk level + recommendation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886200"/>
            <a:ext cx="3749039" cy="22860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94192" y="39959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🔐  API Security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94192" y="4453128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94192" y="461772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FastAPI Header dependency: validate_api_token()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X-API-Token header required on all protected endpoints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HTTP 401 if missing, HTTP 403 if invalid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Token configured via WHISPER_SHIELD_API_TOKEN env var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C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8BFF"/>
                </a:solidFill>
                <a:latin typeface="Calibri Light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F6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73152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417320"/>
            <a:ext cx="5577840" cy="9144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6733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F6FF"/>
                </a:solidFill>
                <a:latin typeface="Calibri"/>
              </a:rPr>
              <a:t>⚛️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9047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A8CC"/>
                </a:solidFill>
                <a:latin typeface="Calibri Light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013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Streamlit ≥1.24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527048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Rapid UI: audio input, results, TTS playback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577840" cy="9144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6733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F6FF"/>
                </a:solidFill>
                <a:latin typeface="Calibri"/>
              </a:rPr>
              <a:t>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49047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A8CC"/>
                </a:solidFill>
                <a:latin typeface="Calibri Light"/>
              </a:rPr>
              <a:t>BACKEND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8013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FastAPI + Uvicorn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527048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Async REST: POST /analyze-privacy, GET /health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450591"/>
            <a:ext cx="5577840" cy="9144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2706623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F6FF"/>
                </a:solidFill>
                <a:latin typeface="Calibri"/>
              </a:rPr>
              <a:t>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523743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A8CC"/>
                </a:solidFill>
                <a:latin typeface="Calibri Light"/>
              </a:rPr>
              <a:t>DATA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3463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Pydantic 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2560319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Request/response models with strict types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50591"/>
            <a:ext cx="5577840" cy="9144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36792" y="2706623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F6FF"/>
                </a:solidFill>
                <a:latin typeface="Calibri"/>
              </a:rPr>
              <a:t>🎙️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523743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A8CC"/>
                </a:solidFill>
                <a:latin typeface="Calibri Light"/>
              </a:rPr>
              <a:t>SPEECH-TO-TEXT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83463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Azure OpenAI Whisper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2560319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High-accuracy async transcription via SDK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483862"/>
            <a:ext cx="5577840" cy="9144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0352" y="373989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F6FF"/>
                </a:solidFill>
                <a:latin typeface="Calibri"/>
              </a:rPr>
              <a:t>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55701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A8CC"/>
                </a:solidFill>
                <a:latin typeface="Calibri Light"/>
              </a:rPr>
              <a:t>PRIVACY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86791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Custom Domain Logic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359359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Keyword-weighted PII scorer — pure Python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483862"/>
            <a:ext cx="5577840" cy="9144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36792" y="373989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F6FF"/>
                </a:solidFill>
                <a:latin typeface="Calibri"/>
              </a:rPr>
              <a:t>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355701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A8CC"/>
                </a:solidFill>
                <a:latin typeface="Calibri Light"/>
              </a:rPr>
              <a:t>TEXT-TO-SPEECH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386791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gTTS ≥2.3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59359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Google TTS for spoken assessment readback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4517133"/>
            <a:ext cx="5577840" cy="9144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0352" y="4773165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F6FF"/>
                </a:solidFill>
                <a:latin typeface="Calibri"/>
              </a:rPr>
              <a:t>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5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A8CC"/>
                </a:solidFill>
                <a:latin typeface="Calibri Light"/>
              </a:rPr>
              <a:t>RUNTIME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901181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Python 3.10+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71800" y="4626861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Async/await throughout the stack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4517133"/>
            <a:ext cx="5577840" cy="9144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36792" y="4773165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F6FF"/>
                </a:solidFill>
                <a:latin typeface="Calibri"/>
              </a:rPr>
              <a:t>☁️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4590285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A8CC"/>
                </a:solidFill>
                <a:latin typeface="Calibri Light"/>
              </a:rPr>
              <a:t>CLOUD PROVIDER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4901181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Azure (OpenAI)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4626861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Whisper deployment on Azure OpenAI Service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" y="5550404"/>
            <a:ext cx="5577840" cy="9144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30352" y="58064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F6FF"/>
                </a:solidFill>
                <a:latin typeface="Calibri"/>
              </a:rPr>
              <a:t>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562355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A8CC"/>
                </a:solidFill>
                <a:latin typeface="Calibri Light"/>
              </a:rPr>
              <a:t>AUTH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" y="59344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API Token Header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71800" y="5660132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X-API-Token via FastAPI Header dependency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72200" y="5550404"/>
            <a:ext cx="5577840" cy="9144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36792" y="58064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F6FF"/>
                </a:solidFill>
                <a:latin typeface="Calibri"/>
              </a:rPr>
              <a:t>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2280" y="562355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A8CC"/>
                </a:solidFill>
                <a:latin typeface="Calibri Light"/>
              </a:rPr>
              <a:t>PACKAGE MANAGER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12280" y="59344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pip / requirements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78240" y="5660132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fastapi, uvicorn, pydantic, openai, gtts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4D4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8BFF"/>
                </a:solidFill>
                <a:latin typeface="Calibri Light"/>
              </a:rPr>
              <a:t>PRIVACY ANALYSIS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F6FF"/>
                </a:solidFill>
                <a:latin typeface="Calibri"/>
              </a:rPr>
              <a:t>PII Detection &amp; Risk Scoring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3716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EA8CC"/>
                </a:solidFill>
                <a:latin typeface="Calibri"/>
              </a:rPr>
              <a:t>Sensitive Keyword Registry  (PrivacyEvaluator.SENSITIVE_KEYWORDS)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3840480" cy="50292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6FF"/>
                </a:solidFill>
                <a:latin typeface="Calibri"/>
              </a:rPr>
              <a:t>SSN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984248"/>
            <a:ext cx="1645920" cy="109728"/>
          </a:xfrm>
          <a:prstGeom prst="rect">
            <a:avLst/>
          </a:prstGeom>
          <a:solidFill>
            <a:srgbClr val="FF4D4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377440" y="1984248"/>
            <a:ext cx="1645920" cy="109728"/>
          </a:xfrm>
          <a:prstGeom prst="rect">
            <a:avLst/>
          </a:prstGeom>
          <a:noFill/>
          <a:ln w="12700">
            <a:solidFill>
              <a:srgbClr val="305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69080" y="187452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4D"/>
                </a:solidFill>
                <a:latin typeface="Calibri"/>
              </a:rPr>
              <a:t>1.0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77440"/>
            <a:ext cx="3840480" cy="50292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4688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6FF"/>
                </a:solidFill>
                <a:latin typeface="Calibri"/>
              </a:rPr>
              <a:t>Credit Card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2578608"/>
            <a:ext cx="1645920" cy="109728"/>
          </a:xfrm>
          <a:prstGeom prst="rect">
            <a:avLst/>
          </a:prstGeom>
          <a:solidFill>
            <a:srgbClr val="FF4D4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377440" y="2578608"/>
            <a:ext cx="1645920" cy="109728"/>
          </a:xfrm>
          <a:prstGeom prst="rect">
            <a:avLst/>
          </a:prstGeom>
          <a:noFill/>
          <a:ln w="12700">
            <a:solidFill>
              <a:srgbClr val="305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69080" y="246888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4D"/>
                </a:solidFill>
                <a:latin typeface="Calibri"/>
              </a:rPr>
              <a:t>1.0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971800"/>
            <a:ext cx="3840480" cy="50292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0632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6FF"/>
                </a:solidFill>
                <a:latin typeface="Calibri"/>
              </a:rPr>
              <a:t>Password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3172968"/>
            <a:ext cx="1481328" cy="109728"/>
          </a:xfrm>
          <a:prstGeom prst="rect">
            <a:avLst/>
          </a:prstGeom>
          <a:solidFill>
            <a:srgbClr val="FFA5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377440" y="3172968"/>
            <a:ext cx="1645920" cy="109728"/>
          </a:xfrm>
          <a:prstGeom prst="rect">
            <a:avLst/>
          </a:prstGeom>
          <a:noFill/>
          <a:ln w="12700">
            <a:solidFill>
              <a:srgbClr val="305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69080" y="306324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  <a:latin typeface="Calibri"/>
              </a:rPr>
              <a:t>0.9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566160"/>
            <a:ext cx="3840480" cy="50292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6576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6FF"/>
                </a:solidFill>
                <a:latin typeface="Calibri"/>
              </a:rPr>
              <a:t>Secret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3767328"/>
            <a:ext cx="1152144" cy="109728"/>
          </a:xfrm>
          <a:prstGeom prst="rect">
            <a:avLst/>
          </a:prstGeom>
          <a:solidFill>
            <a:srgbClr val="FFA5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377440" y="3767328"/>
            <a:ext cx="1645920" cy="109728"/>
          </a:xfrm>
          <a:prstGeom prst="rect">
            <a:avLst/>
          </a:prstGeom>
          <a:noFill/>
          <a:ln w="12700">
            <a:solidFill>
              <a:srgbClr val="305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069080" y="365760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  <a:latin typeface="Calibri"/>
              </a:rPr>
              <a:t>0.7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1783080"/>
            <a:ext cx="3840480" cy="50292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FFD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09160" y="18745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6FF"/>
                </a:solidFill>
                <a:latin typeface="Calibri"/>
              </a:rPr>
              <a:t>Health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1984248"/>
            <a:ext cx="987552" cy="109728"/>
          </a:xfrm>
          <a:prstGeom prst="rect">
            <a:avLst/>
          </a:prstGeom>
          <a:solidFill>
            <a:srgbClr val="FFDD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92240" y="1984248"/>
            <a:ext cx="1645920" cy="109728"/>
          </a:xfrm>
          <a:prstGeom prst="rect">
            <a:avLst/>
          </a:prstGeom>
          <a:noFill/>
          <a:ln w="12700">
            <a:solidFill>
              <a:srgbClr val="305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83880" y="187452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D00"/>
                </a:solidFill>
                <a:latin typeface="Calibri"/>
              </a:rPr>
              <a:t>0.6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2377440"/>
            <a:ext cx="3840480" cy="50292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FFD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09160" y="24688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6FF"/>
                </a:solidFill>
                <a:latin typeface="Calibri"/>
              </a:rPr>
              <a:t>Address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2578608"/>
            <a:ext cx="822960" cy="109728"/>
          </a:xfrm>
          <a:prstGeom prst="rect">
            <a:avLst/>
          </a:prstGeom>
          <a:solidFill>
            <a:srgbClr val="FFDD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92240" y="2578608"/>
            <a:ext cx="1645920" cy="109728"/>
          </a:xfrm>
          <a:prstGeom prst="rect">
            <a:avLst/>
          </a:prstGeom>
          <a:noFill/>
          <a:ln w="12700">
            <a:solidFill>
              <a:srgbClr val="305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83880" y="246888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D00"/>
                </a:solidFill>
                <a:latin typeface="Calibri"/>
              </a:rPr>
              <a:t>0.5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2971800"/>
            <a:ext cx="3840480" cy="50292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09160" y="30632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6FF"/>
                </a:solidFill>
                <a:latin typeface="Calibri"/>
              </a:rPr>
              <a:t>Email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3172968"/>
            <a:ext cx="658368" cy="109728"/>
          </a:xfrm>
          <a:prstGeom prst="rect">
            <a:avLst/>
          </a:prstGeom>
          <a:solidFill>
            <a:srgbClr val="00E5A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492240" y="3172968"/>
            <a:ext cx="1645920" cy="109728"/>
          </a:xfrm>
          <a:prstGeom prst="rect">
            <a:avLst/>
          </a:prstGeom>
          <a:noFill/>
          <a:ln w="12700">
            <a:solidFill>
              <a:srgbClr val="305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83880" y="306324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A0"/>
                </a:solidFill>
                <a:latin typeface="Calibri"/>
              </a:rPr>
              <a:t>0.4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0" y="3566160"/>
            <a:ext cx="3840480" cy="50292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09160" y="36576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6FF"/>
                </a:solidFill>
                <a:latin typeface="Calibri"/>
              </a:rPr>
              <a:t>Phone Number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3767328"/>
            <a:ext cx="658368" cy="109728"/>
          </a:xfrm>
          <a:prstGeom prst="rect">
            <a:avLst/>
          </a:prstGeom>
          <a:solidFill>
            <a:srgbClr val="00E5A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492240" y="3767328"/>
            <a:ext cx="1645920" cy="109728"/>
          </a:xfrm>
          <a:prstGeom prst="rect">
            <a:avLst/>
          </a:prstGeom>
          <a:noFill/>
          <a:ln w="12700">
            <a:solidFill>
              <a:srgbClr val="305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183880" y="365760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A0"/>
                </a:solidFill>
                <a:latin typeface="Calibri"/>
              </a:rPr>
              <a:t>0.4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1325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EA8CC"/>
                </a:solidFill>
                <a:latin typeface="Calibri"/>
              </a:rPr>
              <a:t>Risk Level Thresholds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03920" y="1783080"/>
            <a:ext cx="3200400" cy="914400"/>
          </a:xfrm>
          <a:prstGeom prst="roundRect">
            <a:avLst/>
          </a:prstGeom>
          <a:solidFill>
            <a:srgbClr val="4D0000"/>
          </a:solidFill>
          <a:ln w="127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686800" y="1874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D4D"/>
                </a:solidFill>
                <a:latin typeface="Calibri"/>
              </a:rPr>
              <a:t>CRITICAL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22585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A8CC"/>
                </a:solidFill>
                <a:latin typeface="Calibri"/>
              </a:rPr>
              <a:t>Score ≥ 0.8  ·  DO NOT UPLOAD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03920" y="2807208"/>
            <a:ext cx="3200400" cy="914400"/>
          </a:xfrm>
          <a:prstGeom prst="roundRect">
            <a:avLst/>
          </a:prstGeom>
          <a:solidFill>
            <a:srgbClr val="3D1A00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686800" y="2898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500"/>
                </a:solidFill>
                <a:latin typeface="Calibri"/>
              </a:rPr>
              <a:t>HIGH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328269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A8CC"/>
                </a:solidFill>
                <a:latin typeface="Calibri"/>
              </a:rPr>
              <a:t>Score ≥ 0.5  ·  Redaction recommended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503920" y="3831336"/>
            <a:ext cx="3200400" cy="914400"/>
          </a:xfrm>
          <a:prstGeom prst="roundRect">
            <a:avLst/>
          </a:prstGeom>
          <a:solidFill>
            <a:srgbClr val="3A3200"/>
          </a:solidFill>
          <a:ln w="12700">
            <a:solidFill>
              <a:srgbClr val="FFD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686800" y="392277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D00"/>
                </a:solidFill>
                <a:latin typeface="Calibri"/>
              </a:rPr>
              <a:t>MEDIUM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43068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A8CC"/>
                </a:solidFill>
                <a:latin typeface="Calibri"/>
              </a:rPr>
              <a:t>Score ≥ 0.2  ·  Minor risks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503920" y="4855464"/>
            <a:ext cx="3200400" cy="914400"/>
          </a:xfrm>
          <a:prstGeom prst="roundRect">
            <a:avLst/>
          </a:prstGeom>
          <a:solidFill>
            <a:srgbClr val="002A15"/>
          </a:solidFill>
          <a:ln w="1270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686800" y="494690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A0"/>
                </a:solidFill>
                <a:latin typeface="Calibri"/>
              </a:rPr>
              <a:t>LOW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53309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A8CC"/>
                </a:solidFill>
                <a:latin typeface="Calibri"/>
              </a:rPr>
              <a:t>Score &lt; 0.2  ·  Safe to process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6080760"/>
            <a:ext cx="11155680" cy="594360"/>
          </a:xfrm>
          <a:prstGeom prst="roundRect">
            <a:avLst/>
          </a:prstGeom>
          <a:solidFill>
            <a:srgbClr val="061028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0080" y="61539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0D4FF"/>
                </a:solidFill>
                <a:latin typeface="Courier New"/>
              </a:rPr>
              <a:t>score = min(Σ keyword_weights, 1.0)   →   level = CRITICAL if score ≥ 0.8 | HIGH if ≥ 0.5 | MEDIUM if ≥ 0.2 | LOW otherwise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8BFF"/>
                </a:solidFill>
                <a:latin typeface="Calibri Light"/>
              </a:rPr>
              <a:t>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F6FF"/>
                </a:solidFill>
                <a:latin typeface="Calibri"/>
              </a:rPr>
              <a:t>End-to-End Processing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3716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155680" cy="7772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1536192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527048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0D1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447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User Records Audio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81051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A8CC"/>
                </a:solidFill>
                <a:latin typeface="Calibri"/>
              </a:rPr>
              <a:t>Browser microphone → Streamlit st.audio_input()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15727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D4FF"/>
                </a:solidFill>
                <a:latin typeface="Calibri"/>
              </a:rPr>
              <a:t>Presentation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17627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EA8CC"/>
                </a:solidFill>
                <a:latin typeface="Calibri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249424"/>
            <a:ext cx="11155680" cy="7772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3D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94360" y="2414016"/>
            <a:ext cx="457200" cy="457200"/>
          </a:xfrm>
          <a:prstGeom prst="ellipse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404872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0D1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3225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Audio Streamed to 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688336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A8CC"/>
                </a:solidFill>
                <a:latin typeface="Calibri"/>
              </a:rPr>
              <a:t>POST /analyze-privacy  ·  multipart/form-data WAV bytes  ·  X-API-Token header validated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245059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D8BFF"/>
                </a:solidFill>
                <a:latin typeface="Calibri"/>
              </a:rPr>
              <a:t>FastAPI +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05409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EA8CC"/>
                </a:solidFill>
                <a:latin typeface="Calibri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127248"/>
            <a:ext cx="11155680" cy="7772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94360" y="3291840"/>
            <a:ext cx="457200" cy="457200"/>
          </a:xfrm>
          <a:prstGeom prst="ellipse">
            <a:avLst/>
          </a:prstGeom>
          <a:solidFill>
            <a:srgbClr val="1D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3282696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0D1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2004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Azure Whisper Transcription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56616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A8CC"/>
                </a:solidFill>
                <a:latin typeface="Calibri"/>
              </a:rPr>
              <a:t>AzureWhisperService.transcribe(audio_buffer) → async call to Azure OpenAI Whisper 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332841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D6FFF"/>
                </a:solidFill>
                <a:latin typeface="Calibri"/>
              </a:rPr>
              <a:t>Infrastructure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393192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EA8CC"/>
                </a:solidFill>
                <a:latin typeface="Calibri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005072"/>
            <a:ext cx="11155680" cy="7772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94360" y="4169664"/>
            <a:ext cx="457200" cy="457200"/>
          </a:xfrm>
          <a:prstGeom prst="ellipse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4160520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0D1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0782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Privacy Risk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443984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A8CC"/>
                </a:solidFill>
                <a:latin typeface="Calibri"/>
              </a:rPr>
              <a:t>PrivacyService.analyze_audio_privacy() → PrivacyEvaluator.evaluate(transcript)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42062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B5EA7"/>
                </a:solidFill>
                <a:latin typeface="Calibri"/>
              </a:rPr>
              <a:t>Application + Domain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80974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EA8CC"/>
                </a:solidFill>
                <a:latin typeface="Calibri"/>
              </a:rP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882896"/>
            <a:ext cx="11155680" cy="7772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94360" y="5047488"/>
            <a:ext cx="457200" cy="45720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" y="5038344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0D1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49560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Risk Assessment Returned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5321808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A8CC"/>
                </a:solidFill>
                <a:latin typeface="Calibri"/>
              </a:rPr>
              <a:t>PrivacyAssessment: transcript + detected_entities + risk_level + score + recommendation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508406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A500"/>
                </a:solidFill>
                <a:latin typeface="Calibri"/>
              </a:rPr>
              <a:t>Domain Model (Pydantic)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568756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EA8CC"/>
                </a:solidFill>
                <a:latin typeface="Calibri"/>
              </a:rPr>
              <a:t>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760720"/>
            <a:ext cx="11155680" cy="77724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94360" y="5925312"/>
            <a:ext cx="457200" cy="457200"/>
          </a:xfrm>
          <a:prstGeom prst="ellipse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8368" y="5916168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0D1F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88720" y="58338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Results Displayed + Spoken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20" y="619963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A8CC"/>
                </a:solidFill>
                <a:latin typeface="Calibri"/>
              </a:rPr>
              <a:t>Streamlit renders entity table, risk badge, score metric → gTTS synthesises spoken summary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596188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E5A0"/>
                </a:solidFill>
                <a:latin typeface="Calibri"/>
              </a:rPr>
              <a:t>Presentation Layer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E5A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8BFF"/>
                </a:solidFill>
                <a:latin typeface="Calibri Light"/>
              </a:rPr>
              <a:t>SECURITY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F6FF"/>
                </a:solidFill>
                <a:latin typeface="Calibri"/>
              </a:rPr>
              <a:t>Security &amp; Privacy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3716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417320"/>
            <a:ext cx="3703320" cy="20574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527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🔐  API Token Auth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984248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21488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X-API-Token header on every request. 401 if absent. 403 if invalid. Configured via env var.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7" y="1417320"/>
            <a:ext cx="3703320" cy="20574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39" y="1527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🎭  PII Detection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39" y="1984248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39" y="21488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Transcript scanned for 8 sensitive keyword classes before any storage or further processing.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4734" y="1417320"/>
            <a:ext cx="3703320" cy="20574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3D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9326" y="1527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🌐  HTTPS / TLS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39326" y="1984248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6" y="21488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All client-backend traffic encrypted in transit. FastAPI behind HTTPS-terminating reverse proxy in production.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657600"/>
            <a:ext cx="3703320" cy="20574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37673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🔑  Env-Based Secrets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4224528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" y="438912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API keys, endpoints, and tokens loaded from environment variables — never hardcoded in source.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0247" y="3657600"/>
            <a:ext cx="3703320" cy="20574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34839" y="37673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🗑️  No Persistent Storage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39" y="4224528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34839" y="438912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Current MVP performs in-memory analysis only. Audio and transcripts are not persisted — minimising data exposure.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74734" y="3657600"/>
            <a:ext cx="3703320" cy="20574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00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39326" y="37673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📋  Extensible Compliance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39326" y="4224528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39326" y="438912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A8CC"/>
                </a:solidFill>
                <a:latin typeface="Calibri"/>
              </a:rPr>
              <a:t>Architecture supports adding audit logging, data retention TTLs, and GDPR right-to-erasure in future phases.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492240"/>
            <a:ext cx="11155680" cy="256032"/>
          </a:xfrm>
          <a:prstGeom prst="rect">
            <a:avLst/>
          </a:prstGeom>
          <a:solidFill>
            <a:srgbClr val="001E10"/>
          </a:solidFill>
          <a:ln w="1270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6510528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E5A0"/>
                </a:solidFill>
                <a:latin typeface="Calibri"/>
              </a:rPr>
              <a:t>GDPR-Aligned  ·  No Unnecessary Data Retention  ·  Env-Secret Management  ·  Extendable for ISO 27001 / SOC 2  ·  Input Validation via Pydantic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8B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8BFF"/>
                </a:solidFill>
                <a:latin typeface="Calibri Light"/>
              </a:rPr>
              <a:t>NLU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F6FF"/>
                </a:solidFill>
                <a:latin typeface="Calibri"/>
              </a:rPr>
              <a:t>Mock Dataset &amp; NLU Foundation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73152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EA8CC"/>
                </a:solidFill>
                <a:latin typeface="Calibri"/>
              </a:rPr>
              <a:t>The project ships a structured intent-classification dataset for training, testing, and validating the NLU layer of the voice assistant.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65960"/>
            <a:ext cx="5440680" cy="141732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20574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D8BFF"/>
                </a:solidFill>
                <a:latin typeface="Courier New"/>
              </a:rPr>
              <a:t>📂 datasets/clean/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46888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· basic_queries.json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· navigation.json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· reminder.json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· weather.json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965960"/>
            <a:ext cx="5440680" cy="141732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91072" y="20574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D8BFF"/>
                </a:solidFill>
                <a:latin typeface="Courier New"/>
              </a:rPr>
              <a:t>📂 datasets/location/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246888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· geofence.json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· gps_drift.json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· indoor.json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· low_accuracy.json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20440"/>
            <a:ext cx="5440680" cy="141732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36118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D8BFF"/>
                </a:solidFill>
                <a:latin typeface="Courier New"/>
              </a:rPr>
              <a:t>📂 datasets/multimodal/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02336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· audio_location.json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· time_location.json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· weather_location.json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520440"/>
            <a:ext cx="5440680" cy="141732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91072" y="36118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D8BFF"/>
                </a:solidFill>
                <a:latin typeface="Courier New"/>
              </a:rPr>
              <a:t>📂 datasets/noisy_asr/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402336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· accent.json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· background_noice.json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· spelling_error.json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66360"/>
            <a:ext cx="11155680" cy="1097280"/>
          </a:xfrm>
          <a:prstGeom prst="roundRect">
            <a:avLst/>
          </a:prstGeom>
          <a:solidFill>
            <a:srgbClr val="06143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2578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4FF"/>
                </a:solidFill>
                <a:latin typeface="Calibri"/>
              </a:rPr>
              <a:t>Sample Schema Fields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509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8EA8CC"/>
                </a:solidFill>
                <a:latin typeface="Calibri"/>
              </a:rPr>
              <a:t>› id · category · query · intent · entities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8EA8CC"/>
                </a:solidFill>
                <a:latin typeface="Calibri"/>
              </a:rPr>
              <a:t>› modality (audio/text/visual/multimodal)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8EA8CC"/>
                </a:solidFill>
                <a:latin typeface="Calibri"/>
              </a:rPr>
              <a:t>› confidence (0.0–1.0) · response · action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8EA8CC"/>
                </a:solidFill>
                <a:latin typeface="Calibri"/>
              </a:rPr>
              <a:t>› action.type: navigate | search | set_reminder | get_weather 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6373368"/>
            <a:ext cx="11155680" cy="384048"/>
          </a:xfrm>
          <a:prstGeom prst="roundRect">
            <a:avLst/>
          </a:prstGeom>
          <a:solidFill>
            <a:srgbClr val="001810"/>
          </a:solidFill>
          <a:ln w="1270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6409944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A0"/>
                </a:solidFill>
                <a:latin typeface="Calibri"/>
              </a:rPr>
              <a:t>Demo PII Test Files: Finincial_Assessment_of_Alpha.txt  (banking, SSN, credit card data)  ·  Health_Assessment_of_Alpha.txt  (medical, health, personal data)  →  used to trigger CRITICAL/HIGH risk scores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8BFF"/>
                </a:solidFill>
                <a:latin typeface="Calibri Light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F6FF"/>
                </a:solidFill>
                <a:latin typeface="Calibri"/>
              </a:rPr>
              <a:t>Implementation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73152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155680" cy="54864"/>
          </a:xfrm>
          <a:prstGeom prst="rect">
            <a:avLst/>
          </a:prstGeom>
          <a:solidFill>
            <a:srgbClr val="1D6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45920" y="1389888"/>
            <a:ext cx="292608" cy="29260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2651760" cy="475488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D4FF"/>
                </a:solidFill>
                <a:latin typeface="Calibri Light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1284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6FF"/>
                </a:solidFill>
                <a:latin typeface="Calibri"/>
              </a:rPr>
              <a:t>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334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A8CC"/>
                </a:solidFill>
                <a:latin typeface="Calibri"/>
              </a:rPr>
              <a:t>0 – 2 mo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926080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090672"/>
            <a:ext cx="2423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Provision Azure OpenAI (Whisper deployment)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FastAPI scaffold + /analyze-privacy endpoint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Streamlit frontend with audio input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API token security middleware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Local dev environment + env var config</a:t>
            </a:r>
          </a:p>
        </p:txBody>
      </p:sp>
      <p:sp>
        <p:nvSpPr>
          <p:cNvPr id="14" name="Oval 13"/>
          <p:cNvSpPr/>
          <p:nvPr/>
        </p:nvSpPr>
        <p:spPr>
          <a:xfrm>
            <a:off x="4453128" y="1389888"/>
            <a:ext cx="292608" cy="292608"/>
          </a:xfrm>
          <a:prstGeom prst="ellipse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264408" y="1828800"/>
            <a:ext cx="2651760" cy="475488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3D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01568" y="1920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8BFF"/>
                </a:solidFill>
                <a:latin typeface="Calibri Light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221284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6FF"/>
                </a:solidFill>
                <a:latin typeface="Calibri"/>
              </a:rPr>
              <a:t>Privacy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26334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A8CC"/>
                </a:solidFill>
                <a:latin typeface="Calibri"/>
              </a:rPr>
              <a:t>2 – 4 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2926080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01568" y="3090672"/>
            <a:ext cx="2423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Expand PII keyword registry (IBAN, passport, DOB…)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NER-based entity detection (spaCy / Presidio)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Streaming Whisper for lower latency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Structured audit log per request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Unit + integration test suite</a:t>
            </a:r>
          </a:p>
        </p:txBody>
      </p:sp>
      <p:sp>
        <p:nvSpPr>
          <p:cNvPr id="21" name="Oval 20"/>
          <p:cNvSpPr/>
          <p:nvPr/>
        </p:nvSpPr>
        <p:spPr>
          <a:xfrm>
            <a:off x="7260336" y="1389888"/>
            <a:ext cx="292608" cy="292608"/>
          </a:xfrm>
          <a:prstGeom prst="ellipse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071616" y="1828800"/>
            <a:ext cx="2651760" cy="475488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08776" y="1920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B5EA7"/>
                </a:solidFill>
                <a:latin typeface="Calibri Light"/>
              </a:rP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08776" y="221284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6FF"/>
                </a:solidFill>
                <a:latin typeface="Calibri"/>
              </a:rPr>
              <a:t>Context &amp; 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8776" y="26334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A8CC"/>
                </a:solidFill>
                <a:latin typeface="Calibri"/>
              </a:rPr>
              <a:t>4 – 6 mo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08776" y="2926080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08776" y="3090672"/>
            <a:ext cx="2423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Session context: remember prior utterances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Redis-backed short-term memory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Vector DB for long-term user profile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RAG-based contextual response enrichment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Multi-turn conversation support</a:t>
            </a:r>
          </a:p>
        </p:txBody>
      </p:sp>
      <p:sp>
        <p:nvSpPr>
          <p:cNvPr id="28" name="Oval 27"/>
          <p:cNvSpPr/>
          <p:nvPr/>
        </p:nvSpPr>
        <p:spPr>
          <a:xfrm>
            <a:off x="10067544" y="1389888"/>
            <a:ext cx="292608" cy="292608"/>
          </a:xfrm>
          <a:prstGeom prst="ellipse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878824" y="1828800"/>
            <a:ext cx="2651760" cy="475488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15984" y="1920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E5A0"/>
                </a:solidFill>
                <a:latin typeface="Calibri Light"/>
              </a:rPr>
              <a:t>PHASE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5984" y="221284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6FF"/>
                </a:solidFill>
                <a:latin typeface="Calibri"/>
              </a:rPr>
              <a:t>Scale &amp; Comply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15984" y="26334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A8CC"/>
                </a:solidFill>
                <a:latin typeface="Calibri"/>
              </a:rPr>
              <a:t>6 – 9 mo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15984" y="2926080"/>
            <a:ext cx="4572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15984" y="3090672"/>
            <a:ext cx="2423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Kubernetes deployment (AKS / EKS)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Multi-language STT + TTS support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GDPR right-to-erasure automation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Observability: traces, metrics, dashboards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8EA8CC"/>
                </a:solidFill>
                <a:latin typeface="Calibri"/>
              </a:rPr>
              <a:t>›  GA release + hypercare support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E5A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8BFF"/>
                </a:solidFill>
                <a:latin typeface="Calibri Light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F6FF"/>
                </a:solidFill>
                <a:latin typeface="Calibri"/>
              </a:rPr>
              <a:t>Recommended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371600" cy="381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1155680" cy="896112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1636776"/>
            <a:ext cx="457200" cy="457200"/>
          </a:xfrm>
          <a:prstGeom prst="ellipse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636776"/>
            <a:ext cx="310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0D1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5087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Configure Azure OpenAI Credentials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892808"/>
            <a:ext cx="9966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A8CC"/>
                </a:solidFill>
                <a:latin typeface="Calibri"/>
              </a:rPr>
              <a:t>Set AZURE_OPENAI_API_KEY, AZURE_OPENAI_ENDPOINT, and AZURE_OPENAI_WHISPER_DEPLOYMENT_ID environment variables to activate real Whisper transcription (currently in mock mode).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23160"/>
            <a:ext cx="11155680" cy="896112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94360" y="2642616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2642616"/>
            <a:ext cx="310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0D1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514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Run End-to-End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898648"/>
            <a:ext cx="9966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A8CC"/>
                </a:solidFill>
                <a:latin typeface="Calibri"/>
              </a:rPr>
              <a:t>pip install -r requirements.txt → launch FastAPI backend (uvicorn) → launch Streamlit frontend → record voice reading from Health_Assessment_of_Alpha.txt → observe CRITICAL risk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29000"/>
            <a:ext cx="11155680" cy="896112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3D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94360" y="3648456"/>
            <a:ext cx="457200" cy="457200"/>
          </a:xfrm>
          <a:prstGeom prst="ellipse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" y="3648456"/>
            <a:ext cx="310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0D1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520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Expand PII Keyword Registry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904488"/>
            <a:ext cx="9966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A8CC"/>
                </a:solidFill>
                <a:latin typeface="Calibri"/>
              </a:rPr>
              <a:t>Add IBAN, passport numbers, date-of-birth, and address patterns to PrivacyEvaluator. Consider replacing keyword matching with spaCy NER or Microsoft Presidio for higher accuracy.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34840"/>
            <a:ext cx="11155680" cy="896112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4360" y="4654296"/>
            <a:ext cx="457200" cy="457200"/>
          </a:xfrm>
          <a:prstGeom prst="ellipse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" y="4654296"/>
            <a:ext cx="310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0D1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5262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Add Session Context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910328"/>
            <a:ext cx="9966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A8CC"/>
                </a:solidFill>
                <a:latin typeface="Calibri"/>
              </a:rPr>
              <a:t>Integrate Redis for short-term conversation memory. Store previous transcripts and risk assessments per session so the assistant can reference prior interactions.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440680"/>
            <a:ext cx="11155680" cy="896112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94360" y="5660136"/>
            <a:ext cx="457200" cy="45720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512" y="5660136"/>
            <a:ext cx="310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0D1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532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F"/>
                </a:solidFill>
                <a:latin typeface="Calibri"/>
              </a:rPr>
              <a:t>Harden Security for Production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5916168"/>
            <a:ext cx="9966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A8CC"/>
                </a:solidFill>
                <a:latin typeface="Calibri"/>
              </a:rPr>
              <a:t>Replace static API token with OAuth 2.0 / JWT. Add HTTPS termination, rate limiting, structured audit logging, and a secrets manager (Azure Key Vault / AWS Secrets Manager).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0" cy="4572000"/>
          </a:xfrm>
          <a:prstGeom prst="rect">
            <a:avLst/>
          </a:prstGeom>
          <a:solidFill>
            <a:srgbClr val="051A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16952" y="2286000"/>
            <a:ext cx="4572000" cy="4572000"/>
          </a:xfrm>
          <a:prstGeom prst="rect">
            <a:avLst/>
          </a:prstGeom>
          <a:solidFill>
            <a:srgbClr val="001A1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164592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EA8CC"/>
                </a:solidFill>
                <a:latin typeface="Calibri Light"/>
              </a:rPr>
              <a:t>WHISPERSHIELD AI  ·  SOLUTION ARCHITECTURE  · 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1488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0F6FF"/>
                </a:solidFill>
                <a:latin typeface="Calibri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7448" y="333756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D4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0690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EA8CC"/>
                </a:solidFill>
                <a:latin typeface="Calibri"/>
              </a:rPr>
              <a:t>Slides, architecture diagrams, and source code available on request.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800600"/>
            <a:ext cx="2743200" cy="50292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65960" y="48646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EA8CC"/>
                </a:solidFill>
                <a:latin typeface="Calibri"/>
              </a:rPr>
              <a:t>📧  solution.architect@company.com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4800600"/>
            <a:ext cx="2743200" cy="50292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83480" y="48646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EA8CC"/>
                </a:solidFill>
                <a:latin typeface="Calibri"/>
              </a:rPr>
              <a:t>🔗  GitHub: Context-Aware-Voice-Assistance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4800600"/>
            <a:ext cx="2743200" cy="50292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01000" y="48646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EA8CC"/>
                </a:solidFill>
                <a:latin typeface="Calibri"/>
              </a:rPr>
              <a:t>📅  Schedule a follow-up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406090"/>
                </a:solidFill>
                <a:latin typeface="Calibri"/>
              </a:rPr>
              <a:t>WhisperShield AI MVP  ·  Built with Clean Architecture &amp; Azure OpenAI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b41c0bc7-c6be-49cd-a7d8-05e4908a7b56}" enabled="1" method="Privileged" siteId="{4cbfea0a-b872-47f0-b51c-1c64953c3f0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2034</Words>
  <Application>Microsoft Office PowerPoint</Application>
  <PresentationFormat>Custom</PresentationFormat>
  <Paragraphs>317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Pushpendra Kumar Pandey</cp:lastModifiedBy>
  <cp:revision>5</cp:revision>
  <dcterms:created xsi:type="dcterms:W3CDTF">2013-01-27T09:14:16Z</dcterms:created>
  <dcterms:modified xsi:type="dcterms:W3CDTF">2026-07-17T10:54:33Z</dcterms:modified>
  <cp:category/>
</cp:coreProperties>
</file>
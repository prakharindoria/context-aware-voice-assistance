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6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59352" cy="3200400"/>
          </a:xfrm>
          <a:prstGeom prst="rect">
            <a:avLst/>
          </a:prstGeom>
          <a:solidFill>
            <a:srgbClr val="051A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0" y="274320"/>
            <a:ext cx="3044952" cy="2286000"/>
          </a:xfrm>
          <a:prstGeom prst="rect">
            <a:avLst/>
          </a:prstGeom>
          <a:solidFill>
            <a:srgbClr val="0722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alibri Light"/>
              </a:rPr>
              <a:t>SOLUTION ARCHITECT PRESENTATION  · 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0F6FF"/>
                </a:solidFill>
                <a:latin typeface="Calibri"/>
              </a:rPr>
              <a:t>WhisperShield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Calibri Light"/>
              </a:rPr>
              <a:t>Context-Aware Voice Privacy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20440"/>
            <a:ext cx="109728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A8CC"/>
                </a:solidFill>
                <a:latin typeface="Calibri Light"/>
              </a:rPr>
              <a:t>An AI-powered platform that transcribes voice input, detects PII privacy risks
in real-time, and delivers spoken assessments — built on Clean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60"/>
            <a:ext cx="4114800" cy="82296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A8CC"/>
                </a:solidFill>
                <a:latin typeface="Calibri"/>
              </a:rPr>
              <a:t>Solution Architect  |  Architecture Review  ·  2025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0" y="2331720"/>
            <a:ext cx="2194560" cy="2194560"/>
          </a:xfrm>
          <a:prstGeom prst="ellipse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84080" y="2697480"/>
            <a:ext cx="1463040" cy="1463040"/>
          </a:xfrm>
          <a:prstGeom prst="ellipse">
            <a:avLst/>
          </a:prstGeom>
          <a:solidFill>
            <a:srgbClr val="12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149840" y="3063240"/>
            <a:ext cx="731520" cy="731520"/>
          </a:xfrm>
          <a:prstGeom prst="ellipse">
            <a:avLst/>
          </a:prstGeom>
          <a:solidFill>
            <a:srgbClr val="15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6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Why voice privacy is broken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Solution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WhisperShield AI value proposition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4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System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51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Clean Architecture layers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Core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Key building blocks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Technology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874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Frameworks, SDKs, and infra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56032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Privacy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PII detection and risk scoring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4904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Data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251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End-to-end processing 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93776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Roadmap &amp; Next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440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Phases and action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D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Voice Notes Carry Hidden Privacy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CC"/>
                </a:solidFill>
                <a:latin typeface="Calibri"/>
              </a:rPr>
              <a:t>Every time someone records a voice note — dictating a message, leaving a memo, or dictating sensitive information — they may unknowingly include PII that gets uploaded, stored, and exposed without any privacy check.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394960" cy="1600200"/>
          </a:xfrm>
          <a:prstGeom prst="roundRect">
            <a:avLst/>
          </a:prstGeom>
          <a:solidFill>
            <a:srgbClr val="1A0808"/>
          </a:solidFill>
          <a:ln w="12700">
            <a:solidFill>
              <a:srgbClr val="8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🔒  No PII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A8CC"/>
                </a:solidFill>
                <a:latin typeface="Calibri"/>
              </a:rPr>
              <a:t>Traditional voice tools have zero awareness of sensitive content. Passwords, SSNs, health data, and credit card numbers are transcribed and stored with no warning.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394960" cy="1600200"/>
          </a:xfrm>
          <a:prstGeom prst="roundRect">
            <a:avLst/>
          </a:prstGeom>
          <a:solidFill>
            <a:srgbClr val="1A0808"/>
          </a:solidFill>
          <a:ln w="12700">
            <a:solidFill>
              <a:srgbClr val="8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⚠️  Invisible Risk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A8CC"/>
                </a:solidFill>
                <a:latin typeface="Calibri"/>
              </a:rPr>
              <a:t>Users cannot see what sensitive entities their voice note contains before it leaves the device. Risk is invisible until a breach occurs.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394960" cy="1600200"/>
          </a:xfrm>
          <a:prstGeom prst="roundRect">
            <a:avLst/>
          </a:prstGeom>
          <a:solidFill>
            <a:srgbClr val="1A0808"/>
          </a:solidFill>
          <a:ln w="12700">
            <a:solidFill>
              <a:srgbClr val="8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🔁  Zero Context Awareness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A8CC"/>
                </a:solidFill>
                <a:latin typeface="Calibri"/>
              </a:rPr>
              <a:t>Voice assistants treat each recording in isolation — no intent understanding, no privacy-aware routing, no adaptive response.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394960" cy="1600200"/>
          </a:xfrm>
          <a:prstGeom prst="roundRect">
            <a:avLst/>
          </a:prstGeom>
          <a:solidFill>
            <a:srgbClr val="1A0808"/>
          </a:solidFill>
          <a:ln w="12700">
            <a:solidFill>
              <a:srgbClr val="8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📉  Compliance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A8CC"/>
                </a:solidFill>
                <a:latin typeface="Calibri"/>
              </a:rPr>
              <a:t>Organisations processing voice data lack automated PII detection, making GDPR compliance and data minimisation principles hard to enforce.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97880"/>
            <a:ext cx="11155680" cy="685800"/>
          </a:xfrm>
          <a:prstGeom prst="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943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67%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961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EA8CC"/>
                </a:solidFill>
                <a:latin typeface="Calibri"/>
              </a:rPr>
              <a:t>users frustrated by repeating PII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$4.5M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61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EA8CC"/>
                </a:solidFill>
                <a:latin typeface="Calibri"/>
              </a:rPr>
              <a:t>average cost of a data breach (IBM, 2023)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943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3×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961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EA8CC"/>
                </a:solidFill>
                <a:latin typeface="Calibri"/>
              </a:rPr>
              <a:t>more likely to abandon voice apps after privacy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5943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961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EA8CC"/>
                </a:solidFill>
                <a:latin typeface="Calibri"/>
              </a:rPr>
              <a:t>of voice recordings contain sensitive personal info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6FF"/>
                </a:solidFill>
                <a:latin typeface="Calibri"/>
              </a:rPr>
              <a:t>WhisperShield AI — Privacy-First Voice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CC"/>
                </a:solidFill>
                <a:latin typeface="Calibri"/>
              </a:rPr>
              <a:t>An intelligent voice privacy assistant that transcribes spoken input via Azure Whisper, evaluates the transcript for PII risks using a domain-driven privacy engine, and returns a spoken risk assessment — all within a Clean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2148840" cy="4206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F"/>
                </a:solidFill>
                <a:latin typeface="Calibri"/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Voice-Native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273552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Records audio directly in the browser via Streamlit's audio component. No external audio pipeline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148840"/>
            <a:ext cx="2148840" cy="4206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F"/>
                </a:solidFill>
                <a:latin typeface="Calibri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Azure Whisper STT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273552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34290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High-accuracy multilingual transcription via Azure OpenAI Whisper — streaming-capable with async Python.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148840"/>
            <a:ext cx="2148840" cy="4206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F"/>
                </a:solidFill>
                <a:latin typeface="Calibri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Privacy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3273552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34290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Keyword-weighted PII detector evaluates transcript for passwords, SSNs, health data, emails, and more with scored risk levels.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148840"/>
            <a:ext cx="2148840" cy="4206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F"/>
                </a:solidFill>
                <a:latin typeface="Calibri"/>
              </a:rPr>
              <a:t>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Voice Response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273552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34290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gTTS converts the privacy assessment back into natural speech — results are both displayed and spoken.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2148840"/>
            <a:ext cx="2148840" cy="4206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124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F"/>
                </a:solidFill>
                <a:latin typeface="Calibri"/>
              </a:rPr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Clean 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3273552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21240" y="34290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Domain, Application, Infrastructure, and Presentation layers are fully decoupled. Easily swap STT provider or TTS engine.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446520"/>
            <a:ext cx="11155680" cy="292608"/>
          </a:xfrm>
          <a:prstGeom prst="roundRect">
            <a:avLst/>
          </a:prstGeom>
          <a:solidFill>
            <a:srgbClr val="001E10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46480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E5A0"/>
                </a:solidFill>
                <a:latin typeface="Calibri"/>
              </a:rPr>
              <a:t>✓  Privacy risk detected before data leaves the device  ·  ✓  Zero-repetition conversational design  ·  ✓  GDPR-aligned by construction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B5EA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Clean Architecture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155680" cy="1143000"/>
          </a:xfrm>
          <a:prstGeom prst="roundRect">
            <a:avLst/>
          </a:prstGeom>
          <a:solidFill>
            <a:srgbClr val="05306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alibri"/>
              </a:rP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Streamlit Frontend (app.py)  +  FastAPI Backend (api.py)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User interacts via browser. FastAPI exposes POST /analyze-privacy endpoint. Streamlit renders results and plays TTS audio.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11155680" cy="1143000"/>
          </a:xfrm>
          <a:prstGeom prst="roundRect">
            <a:avLst/>
          </a:prstGeom>
          <a:solidFill>
            <a:srgbClr val="052045"/>
          </a:solidFill>
          <a:ln w="12700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8BFF"/>
                </a:solidFill>
                <a:latin typeface="Calibri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PrivacyService (privacy_service.py)  +  ITranscriptionService (interfaces.py)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6499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Orchestrates: transcribe audio → evaluate privacy. Depends only on abstractions — no infrastructure knowledge.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11155680" cy="1143000"/>
          </a:xfrm>
          <a:prstGeom prst="roundRect">
            <a:avLst/>
          </a:prstGeom>
          <a:solidFill>
            <a:srgbClr val="071532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977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DOMAIN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702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PrivacyEvaluator  +  PrivacyAssessment  +  PrivacyEntity  +  RiskLevel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994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Pure Python domain logic. Keyword-weighted PII scoring. No external dependencies. Fully testable in isolation.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20640"/>
            <a:ext cx="11155680" cy="1143000"/>
          </a:xfrm>
          <a:prstGeom prst="roundRect">
            <a:avLst/>
          </a:prstGeom>
          <a:solidFill>
            <a:srgbClr val="041228"/>
          </a:solidFill>
          <a:ln w="12700">
            <a:solidFill>
              <a:srgbClr val="0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212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C8"/>
                </a:solidFill>
                <a:latin typeface="Calibri"/>
              </a:rPr>
              <a:t>INFRASTRUCTURE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046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AzureWhisperService (azure_whisper_stt.py)  +  SecurityMiddleware (security.py)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338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Implements ITranscriptionService using Azure OpenAI SDK. API token validation via FastAPI Header dependency.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EA8CC"/>
                </a:solidFill>
                <a:latin typeface="Calibri"/>
              </a:rPr>
              <a:t>⬆  Dependency direction: outer layers depend on inner; inner layers know nothing of outer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6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Key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527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🎙️  Voice Capture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14884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Streamlit st.audio_input() captures raw audio from the browser microphone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Returns WAV bytes — zero external audio pipeline required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Works in-browser: no native app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527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📝  STT — Azure Whisper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214884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AzureWhisperService implements ITranscriptionService interface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Uses AsyncAzureOpenAI client (async/await)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Falls back to mock transcript when credentials absent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Config via env vars: AZURE_OPENAI_API_KEY, ENDPOINT, DEPLOYMENT_ID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527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🔍  Privacy Engine (Domain)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214884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PrivacyEvaluator.evaluate(text) — pure static method, no I/O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Scans for 8 PII keyword categories (password, SSN, credit card, health…)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Weighted risk scores normalised to 0.0–1.0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Returns PrivacyAssessment with entities, risk level, recommendation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88620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995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⚠️  Risk Classification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4531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461772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CRITICAL (≥0.8): DO NOT UPLOAD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HIGH (≥0.5): Redaction recommended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MEDIUM (≥0.2): Minor risks detected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LOW (&lt;0.2): Safe to process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88620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2" y="3995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🔊  TTS Response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2272" y="44531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461772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gTTS converts full assessment summary to MP3 audio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Plays back automatically in the Streamlit UI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Summary includes: transcript + entities + risk level + recommendation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3995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🔐  API Security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94192" y="44531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461772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FastAPI Header dependency: validate_api_token()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X-API-Token header required on all protected endpoints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HTTP 401 if missing, HTTP 403 if invalid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Token configured via WHISPER_SHIELD_API_TOKEN env var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C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6733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⚛️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90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013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Streamlit ≥1.24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52704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Rapid UI: audio input, results, TTS playback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6733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490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013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FastAPI + Uvicorn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52704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Async REST: POST /analyze-privacy, GET /health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450591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706623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23743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DATA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Pydantic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560319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Request/response models with strict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50591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706623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523743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SPEECH-TO-TEXT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8346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Azure OpenAI Whisper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560319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High-accuracy async transcription via SDK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83862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73989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55701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PRIVACY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86791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Custom Domain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59359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Keyword-weighted PII scorer — pure Python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483862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36792" y="373989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55701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TEXT-TO-SPEECH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86791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gTTS ≥2.3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59359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Google TTS for spoken assessment readback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517133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477316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RUNTIME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90118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Python 3.10+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4626861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Async/await throughout the stack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517133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36792" y="477316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☁️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59028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CLOUD PROVIDER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90118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Azure (OpenAI)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626861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Whisper deployment on Azure OpenAI Service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5550404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58064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6235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AUTH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9344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API Token Header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566013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X-API-Token via FastAPI Header dependency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5550404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36792" y="58064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56235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PACKAGE MANAGER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59344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pip / requirements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566013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fastapi, uvicorn, pydantic, openai, gtts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D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PRIVACY ANALYSIS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PII Detection &amp; Risk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EA8CC"/>
                </a:solidFill>
                <a:latin typeface="Calibri"/>
              </a:rPr>
              <a:t>Sensitive Keyword Registry  (PrivacyEvaluator.SENSITIVE_KEYWORDS)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SSN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984248"/>
            <a:ext cx="1645920" cy="109728"/>
          </a:xfrm>
          <a:prstGeom prst="rect">
            <a:avLst/>
          </a:prstGeom>
          <a:solidFill>
            <a:srgbClr val="FF4D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77440" y="198424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18745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  <a:latin typeface="Calibri"/>
              </a:rPr>
              <a:t>1.0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Credit 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578608"/>
            <a:ext cx="1645920" cy="109728"/>
          </a:xfrm>
          <a:prstGeom prst="rect">
            <a:avLst/>
          </a:prstGeom>
          <a:solidFill>
            <a:srgbClr val="FF4D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7440" y="257860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80" y="24688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  <a:latin typeface="Calibri"/>
              </a:rPr>
              <a:t>1.0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7180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063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Password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172968"/>
            <a:ext cx="1481328" cy="109728"/>
          </a:xfrm>
          <a:prstGeom prst="rect">
            <a:avLst/>
          </a:prstGeom>
          <a:solidFill>
            <a:srgbClr val="FFA5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77440" y="317296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69080" y="30632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  <a:latin typeface="Calibri"/>
              </a:rPr>
              <a:t>0.9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6616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657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Secret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3767328"/>
            <a:ext cx="1152144" cy="109728"/>
          </a:xfrm>
          <a:prstGeom prst="rect">
            <a:avLst/>
          </a:prstGeom>
          <a:solidFill>
            <a:srgbClr val="FFA5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77440" y="376732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69080" y="36576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  <a:latin typeface="Calibri"/>
              </a:rPr>
              <a:t>0.7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178308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8745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Health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984248"/>
            <a:ext cx="987552" cy="109728"/>
          </a:xfrm>
          <a:prstGeom prst="rect">
            <a:avLst/>
          </a:prstGeom>
          <a:solidFill>
            <a:srgbClr val="FFDD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92240" y="198424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18745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D00"/>
                </a:solidFill>
                <a:latin typeface="Calibri"/>
              </a:rPr>
              <a:t>0.6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237744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09160" y="2468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Address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578608"/>
            <a:ext cx="822960" cy="109728"/>
          </a:xfrm>
          <a:prstGeom prst="rect">
            <a:avLst/>
          </a:prstGeom>
          <a:solidFill>
            <a:srgbClr val="FFDD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257860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80" y="24688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D00"/>
                </a:solidFill>
                <a:latin typeface="Calibri"/>
              </a:rPr>
              <a:t>0.5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297180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09160" y="3063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Email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172968"/>
            <a:ext cx="658368" cy="109728"/>
          </a:xfrm>
          <a:prstGeom prst="rect">
            <a:avLst/>
          </a:prstGeom>
          <a:solidFill>
            <a:srgbClr val="00E5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92240" y="317296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3880" y="30632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A0"/>
                </a:solidFill>
                <a:latin typeface="Calibri"/>
              </a:rPr>
              <a:t>0.4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356616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09160" y="3657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Phone Number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3767328"/>
            <a:ext cx="658368" cy="109728"/>
          </a:xfrm>
          <a:prstGeom prst="rect">
            <a:avLst/>
          </a:prstGeom>
          <a:solidFill>
            <a:srgbClr val="00E5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92240" y="376732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80" y="36576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A0"/>
                </a:solidFill>
                <a:latin typeface="Calibri"/>
              </a:rPr>
              <a:t>0.4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EA8CC"/>
                </a:solidFill>
                <a:latin typeface="Calibri"/>
              </a:rPr>
              <a:t>Risk Level Thresholds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1783080"/>
            <a:ext cx="3200400" cy="914400"/>
          </a:xfrm>
          <a:prstGeom prst="roundRect">
            <a:avLst/>
          </a:prstGeom>
          <a:solidFill>
            <a:srgbClr val="4D0000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22585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Score ≥ 0.8  ·  DO NOT UPLOAD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2807208"/>
            <a:ext cx="3200400" cy="914400"/>
          </a:xfrm>
          <a:prstGeom prst="roundRect">
            <a:avLst/>
          </a:prstGeom>
          <a:solidFill>
            <a:srgbClr val="3D1A0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0" y="2898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  <a:latin typeface="Calibr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2826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Score ≥ 0.5  ·  Redaction recommended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03920" y="3831336"/>
            <a:ext cx="3200400" cy="914400"/>
          </a:xfrm>
          <a:prstGeom prst="roundRect">
            <a:avLst/>
          </a:prstGeom>
          <a:solidFill>
            <a:srgbClr val="3A3200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0" y="3922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D00"/>
                </a:solidFill>
                <a:latin typeface="Calibri"/>
              </a:rPr>
              <a:t>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3068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Score ≥ 0.2  ·  Minor risks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03920" y="4855464"/>
            <a:ext cx="3200400" cy="914400"/>
          </a:xfrm>
          <a:prstGeom prst="roundRect">
            <a:avLst/>
          </a:prstGeom>
          <a:solidFill>
            <a:srgbClr val="002A15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8680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A0"/>
                </a:solidFill>
                <a:latin typeface="Calibri"/>
              </a:rPr>
              <a:t>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5330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Score &lt; 0.2  ·  Safe to process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6080760"/>
            <a:ext cx="11155680" cy="594360"/>
          </a:xfrm>
          <a:prstGeom prst="roundRect">
            <a:avLst/>
          </a:prstGeom>
          <a:solidFill>
            <a:srgbClr val="061028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6153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D4FF"/>
                </a:solidFill>
                <a:latin typeface="Courier New"/>
              </a:rPr>
              <a:t>score = min(Σ keyword_weights, 1.0)   →   level = CRITICAL if score ≥ 0.8 | HIGH if ≥ 0.5 | MEDIUM if ≥ 0.2 | LOW otherwise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End-to-End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536192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447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User Records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1051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Browser microphone → Streamlit st.audio_input()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  <a:latin typeface="Calibri"/>
              </a:rP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762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49424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4360" y="2414016"/>
            <a:ext cx="457200" cy="457200"/>
          </a:xfrm>
          <a:prstGeom prst="ellipse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404872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Audio Streamed to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88336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POST /analyze-privacy  ·  multipart/form-data WAV bytes  ·  X-API-Token header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4505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D8BFF"/>
                </a:solidFill>
                <a:latin typeface="Calibri"/>
              </a:rPr>
              <a:t>FastAPI +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5409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27248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4360" y="3291840"/>
            <a:ext cx="457200" cy="457200"/>
          </a:xfrm>
          <a:prstGeom prst="ellipse">
            <a:avLst/>
          </a:prstGeom>
          <a:solidFill>
            <a:srgbClr val="1D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282696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200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Azure Whisper Transcription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5661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AzureWhisperService.transcribe(audio_buffer) → async call to Azure OpenAI Whisper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328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D6FFF"/>
                </a:solidFill>
                <a:latin typeface="Calibri"/>
              </a:rPr>
              <a:t>Infrastructure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9319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05072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4360" y="4169664"/>
            <a:ext cx="457200" cy="457200"/>
          </a:xfrm>
          <a:prstGeom prst="ellipse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16052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0782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Privacy Risk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43984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PrivacyService.analyze_audio_privacy() → PrivacyEvaluator.evaluate(transcript)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206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B5EA7"/>
                </a:solidFill>
                <a:latin typeface="Calibri"/>
              </a:rPr>
              <a:t>Application + Domain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8097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82896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4360" y="5047488"/>
            <a:ext cx="457200" cy="4572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5038344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9560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Risk Assessment Returned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32180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PrivacyAssessment: transcript + detected_entities + risk_level + score + recommendation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0840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A500"/>
                </a:solidFill>
                <a:latin typeface="Calibri"/>
              </a:rPr>
              <a:t>Domain Model (Pydantic)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6875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760720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94360" y="5925312"/>
            <a:ext cx="457200" cy="45720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5916168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5833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Results Displayed + Spoken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619963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Streamlit renders entity table, risk badge, score metric → gTTS synthesises spoken summary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59618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E5A0"/>
                </a:solidFill>
                <a:latin typeface="Calibri"/>
              </a:rPr>
              <a:t>Presentation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SECURITY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Security &amp; Privacy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🔐  API Token 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148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X-API-Token header on every request. 401 if absent. 403 if invalid. Configured via env var.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7" y="141732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39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🎭  PII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39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39" y="2148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Transcript scanned for 8 sensitive keyword classes before any storage or further processing.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4" y="141732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6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🌐  HTTPS / TLS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6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6" y="2148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All client-backend traffic encrypted in transit. FastAPI behind HTTPS-terminating reverse proxy in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5760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🔑  Env-Based Secrets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2245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43891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API keys, endpoints, and tokens loaded from environment variables — never hardcoded in source.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7" y="365760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39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🗑️  No Persistent 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39" y="42245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39" y="43891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Current MVP performs in-memory analysis only. Audio and transcripts are not persisted — minimising data exposure.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4734" y="365760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6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📋  Extensible Compliance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9326" y="42245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6" y="43891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Architecture supports adding audit logging, data retention TTLs, and GDPR right-to-erasure in future phases.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92240"/>
            <a:ext cx="11155680" cy="256032"/>
          </a:xfrm>
          <a:prstGeom prst="rect">
            <a:avLst/>
          </a:prstGeom>
          <a:solidFill>
            <a:srgbClr val="001E10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E5A0"/>
                </a:solidFill>
                <a:latin typeface="Calibri"/>
              </a:rPr>
              <a:t>GDPR-Aligned  ·  No Unnecessary Data Retention  ·  Env-Secret Management  ·  Extendable for ISO 27001 / SOC 2  ·  Input Validation via Pydantic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NLU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Mock Dataset &amp; NLU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CC"/>
                </a:solidFill>
                <a:latin typeface="Calibri"/>
              </a:rPr>
              <a:t>The project ships a structured intent-classification dataset for training, testing, and validating the NLU layer of the voice assistant.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5440680" cy="14173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8BFF"/>
                </a:solidFill>
                <a:latin typeface="Courier New"/>
              </a:rPr>
              <a:t>📂 datasets/clean/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688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basic_queries.json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navigation.json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reminder.json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weather.json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65960"/>
            <a:ext cx="5440680" cy="14173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8BFF"/>
                </a:solidFill>
                <a:latin typeface="Courier New"/>
              </a:rPr>
              <a:t>📂 datasets/location/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4688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geofence.json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gps_drift.json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indoor.json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low_accuracy.json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5440680" cy="14173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611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8BFF"/>
                </a:solidFill>
                <a:latin typeface="Courier New"/>
              </a:rPr>
              <a:t>📂 datasets/multimodal/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023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audio_location.json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time_location.json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weather_location.json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520440"/>
            <a:ext cx="5440680" cy="14173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3611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8BFF"/>
                </a:solidFill>
                <a:latin typeface="Courier New"/>
              </a:rPr>
              <a:t>📂 datasets/noisy_asr/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4023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accent.json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background_noice.json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spelling_error.json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6360"/>
            <a:ext cx="11155680" cy="1097280"/>
          </a:xfrm>
          <a:prstGeom prst="roundRect">
            <a:avLst/>
          </a:prstGeom>
          <a:solidFill>
            <a:srgbClr val="0614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Calibri"/>
              </a:rPr>
              <a:t>Sample Schema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509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8EA8CC"/>
                </a:solidFill>
                <a:latin typeface="Calibri"/>
              </a:rPr>
              <a:t>› id · category · query · intent · entities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8EA8CC"/>
                </a:solidFill>
                <a:latin typeface="Calibri"/>
              </a:rPr>
              <a:t>› modality (audio/text/visual/multimodal)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8EA8CC"/>
                </a:solidFill>
                <a:latin typeface="Calibri"/>
              </a:rPr>
              <a:t>› confidence (0.0–1.0) · response · action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8EA8CC"/>
                </a:solidFill>
                <a:latin typeface="Calibri"/>
              </a:rPr>
              <a:t>› action.type: navigate | search | set_reminder | get_weather 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373368"/>
            <a:ext cx="11155680" cy="384048"/>
          </a:xfrm>
          <a:prstGeom prst="roundRect">
            <a:avLst/>
          </a:prstGeom>
          <a:solidFill>
            <a:srgbClr val="001810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0994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A0"/>
                </a:solidFill>
                <a:latin typeface="Calibri"/>
              </a:rPr>
              <a:t>Demo PII Test Files: Finincial_Assessment_of_Alpha.txt  (banking, SSN, credit card data)  ·  Health_Assessment_of_Alpha.txt  (medical, health, personal data)  →  used to trigger CRITICAL/HIGH risk scores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155680" cy="54864"/>
          </a:xfrm>
          <a:prstGeom prst="rect">
            <a:avLst/>
          </a:prstGeom>
          <a:solidFill>
            <a:srgbClr val="1D6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0" y="1389888"/>
            <a:ext cx="292608" cy="29260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51760" cy="475488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D4FF"/>
                </a:solidFill>
                <a:latin typeface="Calibri Light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F"/>
                </a:solidFill>
                <a:latin typeface="Calibri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8CC"/>
                </a:solidFill>
                <a:latin typeface="Calibri"/>
              </a:rPr>
              <a:t>0 – 2 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26080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Provision Azure OpenAI (Whisper deployment)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FastAPI scaffold + /analyze-privacy endpoint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Streamlit frontend with audio input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API token security middleware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Local dev environment + env var config</a:t>
            </a:r>
          </a:p>
        </p:txBody>
      </p:sp>
      <p:sp>
        <p:nvSpPr>
          <p:cNvPr id="14" name="Oval 13"/>
          <p:cNvSpPr/>
          <p:nvPr/>
        </p:nvSpPr>
        <p:spPr>
          <a:xfrm>
            <a:off x="4453128" y="1389888"/>
            <a:ext cx="292608" cy="292608"/>
          </a:xfrm>
          <a:prstGeom prst="ellipse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64408" y="1828800"/>
            <a:ext cx="2651760" cy="475488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1568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F"/>
                </a:solidFill>
                <a:latin typeface="Calibri"/>
              </a:rPr>
              <a:t>Privacy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633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8CC"/>
                </a:solidFill>
                <a:latin typeface="Calibri"/>
              </a:rPr>
              <a:t>2 – 4 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2926080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01568" y="3090672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Expand PII keyword registry (IBAN, passport, DOB…)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NER-based entity detection (spaCy / Presidio)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Streaming Whisper for lower latency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Structured audit log per request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Unit + integration test suite</a:t>
            </a:r>
          </a:p>
        </p:txBody>
      </p:sp>
      <p:sp>
        <p:nvSpPr>
          <p:cNvPr id="21" name="Oval 20"/>
          <p:cNvSpPr/>
          <p:nvPr/>
        </p:nvSpPr>
        <p:spPr>
          <a:xfrm>
            <a:off x="7260336" y="1389888"/>
            <a:ext cx="292608" cy="292608"/>
          </a:xfrm>
          <a:prstGeom prst="ellipse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071616" y="1828800"/>
            <a:ext cx="2651760" cy="475488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08776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5EA7"/>
                </a:solidFill>
                <a:latin typeface="Calibri Light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F"/>
                </a:solidFill>
                <a:latin typeface="Calibri"/>
              </a:rPr>
              <a:t>Context &amp;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2633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8CC"/>
                </a:solidFill>
                <a:latin typeface="Calibri"/>
              </a:rPr>
              <a:t>4 – 6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2926080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08776" y="3090672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Session context: remember prior utterances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Redis-backed short-term memory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Vector DB for long-term user profile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RAG-based contextual response enrichment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Multi-turn conversation support</a:t>
            </a:r>
          </a:p>
        </p:txBody>
      </p:sp>
      <p:sp>
        <p:nvSpPr>
          <p:cNvPr id="28" name="Oval 27"/>
          <p:cNvSpPr/>
          <p:nvPr/>
        </p:nvSpPr>
        <p:spPr>
          <a:xfrm>
            <a:off x="10067544" y="1389888"/>
            <a:ext cx="292608" cy="292608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878824" y="1828800"/>
            <a:ext cx="2651760" cy="475488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984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A0"/>
                </a:solidFill>
                <a:latin typeface="Calibri Light"/>
              </a:rPr>
              <a:t>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F"/>
                </a:solidFill>
                <a:latin typeface="Calibri"/>
              </a:rPr>
              <a:t>Scale &amp; Comply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2633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8CC"/>
                </a:solidFill>
                <a:latin typeface="Calibri"/>
              </a:rPr>
              <a:t>6 – 9 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15984" y="2926080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15984" y="3090672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Kubernetes deployment (AKS / EKS)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Multi-language STT + TTS support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GDPR right-to-erasure automation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Observability: traces, metrics, dashboards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GA release + hypercare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Recommended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155680" cy="896112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636776"/>
            <a:ext cx="457200" cy="45720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63677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08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Configure Azure OpenAI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9280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Set AZURE_OPENAI_API_KEY, AZURE_OPENAI_ENDPOINT, and AZURE_OPENAI_WHISPER_DEPLOYMENT_ID environment variables to activate real Whisper transcription (currently in mock mode).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11155680" cy="896112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4360" y="2642616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64261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14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Run End-to-End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9864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pip install -r requirements.txt → launch FastAPI backend (uvicorn) → launch Streamlit frontend → record voice reading from Health_Assessment_of_Alpha.txt → observe CRITICAL risk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29000"/>
            <a:ext cx="11155680" cy="896112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4360" y="3648456"/>
            <a:ext cx="457200" cy="457200"/>
          </a:xfrm>
          <a:prstGeom prst="ellipse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364845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520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Expand PII Keyword Registry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0448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Add IBAN, passport numbers, date-of-birth, and address patterns to PrivacyEvaluator. Consider replacing keyword matching with spaCy NER or Microsoft Presidio for higher accuracy.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11155680" cy="896112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4360" y="4654296"/>
            <a:ext cx="457200" cy="457200"/>
          </a:xfrm>
          <a:prstGeom prst="ellipse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465429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526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Add Session Context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91032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Integrate Redis for short-term conversation memory. Store previous transcripts and risk assessments per session so the assistant can reference prior interactions.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40680"/>
            <a:ext cx="11155680" cy="896112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94360" y="5660136"/>
            <a:ext cx="457200" cy="4572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" y="566013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32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Harden Security for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91616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Replace static API token with OAuth 2.0 / JWT. Add HTTPS termination, rate limiting, structured audit logging, and a secrets manager (Azure Key Vault / AWS Secrets Manager).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4572000"/>
          </a:xfrm>
          <a:prstGeom prst="rect">
            <a:avLst/>
          </a:prstGeom>
          <a:solidFill>
            <a:srgbClr val="051A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16952" y="2286000"/>
            <a:ext cx="4572000" cy="4572000"/>
          </a:xfrm>
          <a:prstGeom prst="rect">
            <a:avLst/>
          </a:prstGeom>
          <a:solidFill>
            <a:srgbClr val="001A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 Light"/>
              </a:rPr>
              <a:t>WHISPERSHIELD AI  ·  SOLUTION ARCHITECTURE  · 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148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0F6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7448" y="3337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4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0690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EA8CC"/>
                </a:solidFill>
                <a:latin typeface="Calibri"/>
              </a:rPr>
              <a:t>Slides, architecture diagrams, and source code available on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800600"/>
            <a:ext cx="274320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4864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EA8CC"/>
                </a:solidFill>
                <a:latin typeface="Calibri"/>
              </a:rPr>
              <a:t>📧  solution.architect@company.com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4800600"/>
            <a:ext cx="274320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0" y="4864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EA8CC"/>
                </a:solidFill>
                <a:latin typeface="Calibri"/>
              </a:rPr>
              <a:t>🔗  GitHub: Context-Aware-Voice-Assistance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800600"/>
            <a:ext cx="274320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4864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EA8CC"/>
                </a:solidFill>
                <a:latin typeface="Calibri"/>
              </a:rPr>
              <a:t>📅  Schedule a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406090"/>
                </a:solidFill>
                <a:latin typeface="Calibri"/>
              </a:rPr>
              <a:t>WhisperShield AI MVP  ·  Built with Clean Architecture &amp; Azure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41c0bc7-c6be-49cd-a7d8-05e4908a7b56}" enabled="1" method="Privileged" siteId="{4cbfea0a-b872-47f0-b51c-1c64953c3f0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2032</Words>
  <Application>Microsoft Office PowerPoint</Application>
  <PresentationFormat>Custom</PresentationFormat>
  <Paragraphs>317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Pushpendra Kumar Pandey</cp:lastModifiedBy>
  <cp:revision>2</cp:revision>
  <dcterms:created xsi:type="dcterms:W3CDTF">2013-01-27T09:14:16Z</dcterms:created>
  <dcterms:modified xsi:type="dcterms:W3CDTF">2026-07-17T10:37:08Z</dcterms:modified>
  <cp:category/>
</cp:coreProperties>
</file>